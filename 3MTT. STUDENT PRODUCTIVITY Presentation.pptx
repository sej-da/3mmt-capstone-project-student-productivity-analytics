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8"/>
  </p:notesMasterIdLst>
  <p:sldIdLst>
    <p:sldId id="256" r:id="rId2"/>
    <p:sldId id="259" r:id="rId3"/>
    <p:sldId id="260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9F9E6-C0CD-46EA-86F8-E148A9F15DA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0789-51BD-4974-BEC6-E46F08531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8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38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4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7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9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2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3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3DFAE3-14DB-48A7-A80F-80DDB072CE3D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4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5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8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79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56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F45AC6-C491-4585-A584-9CE2AF7D5500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9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2CA95-8A6E-A6EA-7863-3EDEDF10DE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11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A25F253-75D3-FF7F-0607-2AAA97EDD477}"/>
              </a:ext>
            </a:extLst>
          </p:cNvPr>
          <p:cNvSpPr/>
          <p:nvPr/>
        </p:nvSpPr>
        <p:spPr>
          <a:xfrm>
            <a:off x="8881672" y="3972387"/>
            <a:ext cx="3190407" cy="2885603"/>
          </a:xfrm>
          <a:prstGeom prst="ellipse">
            <a:avLst/>
          </a:prstGeom>
          <a:solidFill>
            <a:srgbClr val="169C9A">
              <a:alpha val="1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CEBF0-A077-A255-E4CF-0493BCD02758}"/>
              </a:ext>
            </a:extLst>
          </p:cNvPr>
          <p:cNvSpPr txBox="1"/>
          <p:nvPr/>
        </p:nvSpPr>
        <p:spPr>
          <a:xfrm>
            <a:off x="224853" y="4158429"/>
            <a:ext cx="86568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440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ANALYSIS</a:t>
            </a:r>
            <a:endParaRPr lang="en-US" sz="4400" dirty="0">
              <a:solidFill>
                <a:srgbClr val="FFFF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A6F5C-B405-BD99-79C9-34999D490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656" y="2295645"/>
            <a:ext cx="10687987" cy="1079291"/>
          </a:xfrm>
        </p:spPr>
        <p:txBody>
          <a:bodyPr anchor="b">
            <a:no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ANALYSIS ON STUDENT ACADEMIC PERFORMANCE AND DIGITAL DISTRACTIONS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BA5F50-3DF0-4135-3E2D-BABA5D97E315}"/>
              </a:ext>
            </a:extLst>
          </p:cNvPr>
          <p:cNvSpPr/>
          <p:nvPr/>
        </p:nvSpPr>
        <p:spPr>
          <a:xfrm>
            <a:off x="0" y="3898879"/>
            <a:ext cx="3190407" cy="2885603"/>
          </a:xfrm>
          <a:prstGeom prst="ellipse">
            <a:avLst/>
          </a:prstGeom>
          <a:solidFill>
            <a:srgbClr val="169C9A">
              <a:alpha val="1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7B96674-CDA1-5952-13F1-66E6E9CFAF7D}"/>
              </a:ext>
            </a:extLst>
          </p:cNvPr>
          <p:cNvSpPr/>
          <p:nvPr/>
        </p:nvSpPr>
        <p:spPr>
          <a:xfrm>
            <a:off x="352267" y="4933205"/>
            <a:ext cx="9728618" cy="89941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FC80B5-F012-3B00-BD22-E3C58F65C92E}"/>
              </a:ext>
            </a:extLst>
          </p:cNvPr>
          <p:cNvSpPr txBox="1"/>
          <p:nvPr/>
        </p:nvSpPr>
        <p:spPr>
          <a:xfrm>
            <a:off x="247336" y="5067093"/>
            <a:ext cx="9586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Exploring how digital distractions , and study habits affect student productivity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54A16-BD31-FDE8-CA5C-77BF4436FAEF}"/>
              </a:ext>
            </a:extLst>
          </p:cNvPr>
          <p:cNvSpPr txBox="1"/>
          <p:nvPr/>
        </p:nvSpPr>
        <p:spPr>
          <a:xfrm>
            <a:off x="352267" y="780846"/>
            <a:ext cx="6280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00"/>
                </a:solidFill>
              </a:rPr>
              <a:t>3MTT CAPSTONE PROJECT</a:t>
            </a:r>
            <a:endParaRPr 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85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kern="0" spc="267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METRICS AT A GLANCE</a:t>
            </a:r>
            <a:endParaRPr lang="en-US" sz="29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3600" y="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i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Overview</a:t>
            </a:r>
            <a:endParaRPr lang="en-US" sz="1733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1219200"/>
            <a:ext cx="2682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4800" y="1219200"/>
            <a:ext cx="2682240" cy="1097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4800" y="1402080"/>
            <a:ext cx="26822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0D47A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20,000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4800" y="225552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Students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4800" y="2682240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dataset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30880" y="1219200"/>
            <a:ext cx="2682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30880" y="1219200"/>
            <a:ext cx="268224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30880" y="1402080"/>
            <a:ext cx="26822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0089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50.18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30880" y="225552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 Productivity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30880" y="2682240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 of 100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56960" y="1219200"/>
            <a:ext cx="2682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56960" y="1219200"/>
            <a:ext cx="2682240" cy="1097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56960" y="1402080"/>
            <a:ext cx="26822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6A1B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70.27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56960" y="225552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 Final Grade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56960" y="2682240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 of 100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83040" y="1219200"/>
            <a:ext cx="2682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83040" y="1219200"/>
            <a:ext cx="2682240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83040" y="1402080"/>
            <a:ext cx="26822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4.30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83040" y="225552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 Study Hours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83040" y="2682240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Hours/day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33528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133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DISTRACTION BREAKDOWN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90144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3901440"/>
            <a:ext cx="85344" cy="548640"/>
          </a:xfrm>
          <a:prstGeom prst="rect">
            <a:avLst/>
          </a:prstGeom>
          <a:solidFill>
            <a:srgbClr val="EF535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390144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Highly Distracted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35680" y="3901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18,077</a:t>
            </a:r>
            <a:endParaRPr lang="en-US" sz="17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93920" y="3901440"/>
            <a:ext cx="79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90.4%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5760" y="457200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5344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Moderately Distracted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535680" y="4572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1,898</a:t>
            </a:r>
            <a:endParaRPr lang="en-US" sz="1733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93920" y="4572000"/>
            <a:ext cx="79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9.5%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524256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65760" y="5242560"/>
            <a:ext cx="85344" cy="5486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" y="524256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35680" y="5242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66BB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93920" y="5242560"/>
            <a:ext cx="79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0.1%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61760" y="3352800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133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ENGAGEMENT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61760" y="390144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461760" y="3901440"/>
            <a:ext cx="85344" cy="5486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644640" y="390144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Highly Engaged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31680" y="3901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66BB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2,017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789920" y="3901440"/>
            <a:ext cx="79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10.1%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61760" y="457200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61760" y="4572000"/>
            <a:ext cx="85344" cy="54864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44640" y="457200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Engaged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31680" y="4572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11,877</a:t>
            </a:r>
            <a:endParaRPr lang="en-US" sz="1733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789920" y="4572000"/>
            <a:ext cx="79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59.4%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461760" y="524256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461760" y="5242560"/>
            <a:ext cx="85344" cy="548640"/>
          </a:xfrm>
          <a:prstGeom prst="rect">
            <a:avLst/>
          </a:prstGeom>
          <a:solidFill>
            <a:srgbClr val="EF535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644640" y="524256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Under-Engaged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631680" y="5242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6,106</a:t>
            </a:r>
            <a:endParaRPr lang="en-US" sz="17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789920" y="5242560"/>
            <a:ext cx="79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30.5%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0" y="638556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Productivity Dashboard | Executive Summary</a:t>
            </a:r>
            <a:endParaRPr lang="en-US" sz="13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kern="0" spc="267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GENDER ANALYSIS</a:t>
            </a:r>
            <a:endParaRPr lang="en-US" sz="29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3600" y="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i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Gender</a:t>
            </a:r>
            <a:endParaRPr lang="en-US" sz="17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981556"/>
            <a:ext cx="2682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4800" y="1158240"/>
            <a:ext cx="2682240" cy="853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4800" y="1243584"/>
            <a:ext cx="2682240" cy="792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9,582</a:t>
            </a:r>
            <a:endParaRPr lang="en-US" sz="426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4800" y="2036064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7528" y="1015034"/>
            <a:ext cx="2682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30880" y="1158240"/>
            <a:ext cx="2682240" cy="85344"/>
          </a:xfrm>
          <a:prstGeom prst="rect">
            <a:avLst/>
          </a:prstGeom>
          <a:solidFill>
            <a:srgbClr val="0070C0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 sz="24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30880" y="1243584"/>
            <a:ext cx="268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9,640</a:t>
            </a:r>
            <a:endParaRPr lang="en-US" sz="4267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30880" y="2036064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Female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56960" y="1158240"/>
            <a:ext cx="2682240" cy="131983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56960" y="1158240"/>
            <a:ext cx="2682240" cy="853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56960" y="1243584"/>
            <a:ext cx="268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0089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778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56960" y="2036064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Other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83040" y="1269517"/>
            <a:ext cx="2682240" cy="12010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83040" y="1158240"/>
            <a:ext cx="2682240" cy="8534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83040" y="1243584"/>
            <a:ext cx="2682240" cy="125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FFA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13.33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83040" y="2036064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 Distraction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0" y="6338391"/>
            <a:ext cx="12192000" cy="519609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0" y="6384161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Productivity Dashboard | Executive Summary</a:t>
            </a:r>
            <a:endParaRPr lang="en-US" sz="13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5795B6E-5A2D-81BF-C6AD-6250360D0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11" y="2621280"/>
            <a:ext cx="4477375" cy="36637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425CCA6-6DC5-6AE0-947C-095CA7C16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513" y="2589858"/>
            <a:ext cx="4477374" cy="3711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kern="0" spc="267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DISTRACTION ANALYSIS</a:t>
            </a:r>
            <a:endParaRPr lang="en-US" sz="29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3600" y="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i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Distraction</a:t>
            </a:r>
            <a:endParaRPr lang="en-US" sz="17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365760" y="5303520"/>
            <a:ext cx="11460480" cy="1036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65760" y="5303520"/>
            <a:ext cx="85344" cy="10363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9600" y="5303520"/>
            <a:ext cx="110947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KEY INSIGHT: </a:t>
            </a:r>
            <a:r>
              <a:rPr lang="en-US" sz="1600" dirty="0">
                <a:solidFill>
                  <a:srgbClr val="4E34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90.4% of students (18,077) are Highly Distracted, with an average productivity score of only 48 vs. 73 for Focused students. Phone usage and social media are the primary distraction drivers — a 34% productivity gap demands urgent intervention.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0" y="6400800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Productivity Dashboard | Executive Summary</a:t>
            </a:r>
            <a:endParaRPr lang="en-US" sz="13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501F33-D7F7-C458-66BF-369FDB501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46" y="1002394"/>
            <a:ext cx="5249554" cy="42131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54E379-F07C-9435-23D2-D91377BD8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0" y="1002394"/>
            <a:ext cx="5249554" cy="4301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kern="0" spc="267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ENGAGEMENT ANALYSIS</a:t>
            </a:r>
            <a:endParaRPr lang="en-US" sz="29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80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i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Category</a:t>
            </a:r>
            <a:endParaRPr lang="en-US" sz="17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158240"/>
            <a:ext cx="3535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158240"/>
            <a:ext cx="3535680" cy="8534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1243584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66BB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2,017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6720" y="203606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Highly Engaged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6720" y="240182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10.1% of students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8160" y="1158240"/>
            <a:ext cx="3535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8160" y="1158240"/>
            <a:ext cx="3535680" cy="85344"/>
          </a:xfrm>
          <a:prstGeom prst="rect">
            <a:avLst/>
          </a:prstGeom>
          <a:solidFill>
            <a:srgbClr val="FFC00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sz="240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8160" y="1243584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11,877</a:t>
            </a:r>
            <a:endParaRPr lang="en-US" sz="4267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28160" y="203606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Engaged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28160" y="240182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59.4% of students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0" y="1158240"/>
            <a:ext cx="3535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0" y="1158240"/>
            <a:ext cx="3535680" cy="8534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1243584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EF53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6,106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0" y="203606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237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Under-Engaged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0" y="240182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30.5% of students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0" y="6317148"/>
            <a:ext cx="12192000" cy="5408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0" y="6394652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Productivity Dashboard | Executive Summary</a:t>
            </a:r>
            <a:endParaRPr lang="en-US" sz="1333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7F21999-DE62-B547-73E0-843123E60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069" y="3034116"/>
            <a:ext cx="5774211" cy="31244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D829752-070F-D75B-144A-CC58D6FF1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2997541"/>
            <a:ext cx="5274539" cy="32342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14F3458-CE3B-3838-5F57-3F2C38BB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11"/>
          <a:stretch>
            <a:fillRect/>
          </a:stretch>
        </p:blipFill>
        <p:spPr>
          <a:xfrm>
            <a:off x="20" y="173741"/>
            <a:ext cx="12191980" cy="685799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67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 &amp; RECOMMENDATIONS</a:t>
            </a:r>
            <a:endParaRPr lang="en-US" sz="1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97280"/>
            <a:ext cx="5486400" cy="487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4800" y="109728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00E5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 KEY FINDINGS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4800" y="1731264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4800" y="1731264"/>
            <a:ext cx="85344" cy="6705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3296" y="1731264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90.4% of students are Highly Distracted — only 25 students (0.1%) are Focused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4800" y="2499360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4800" y="2499360"/>
            <a:ext cx="85344" cy="6705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3296" y="2499360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📉  Highly Distracted students score 34% lower in productivity (48 vs. 73)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4800" y="3267456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4800" y="3267456"/>
            <a:ext cx="85344" cy="670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3296" y="3267456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👥  Gender breakdown is near-equal: Male 47.9%, Female 48.2%, Other 3.9%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4800" y="4035552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4800" y="4035552"/>
            <a:ext cx="85344" cy="6705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3296" y="4035552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📚  Only 10.1% of students are Highly Engaged in their studies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54199D0-B6FC-0346-ECB9-CA007896EA12}"/>
              </a:ext>
            </a:extLst>
          </p:cNvPr>
          <p:cNvGrpSpPr/>
          <p:nvPr/>
        </p:nvGrpSpPr>
        <p:grpSpPr>
          <a:xfrm>
            <a:off x="304800" y="4803648"/>
            <a:ext cx="5486400" cy="670560"/>
            <a:chOff x="304800" y="4803648"/>
            <a:chExt cx="5486400" cy="670560"/>
          </a:xfrm>
        </p:grpSpPr>
        <p:sp>
          <p:nvSpPr>
            <p:cNvPr id="18" name="Shape 16"/>
            <p:cNvSpPr/>
            <p:nvPr/>
          </p:nvSpPr>
          <p:spPr>
            <a:xfrm>
              <a:off x="304800" y="4803648"/>
              <a:ext cx="5486400" cy="670560"/>
            </a:xfrm>
            <a:prstGeom prst="rect">
              <a:avLst/>
            </a:prstGeom>
            <a:solidFill>
              <a:srgbClr val="0A1E45"/>
            </a:solidFill>
            <a:ln w="12700">
              <a:solidFill>
                <a:srgbClr val="1A3570"/>
              </a:solidFill>
              <a:prstDash val="solid"/>
            </a:ln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906F30F-DEE5-588E-51AD-8B004FCB5A99}"/>
                </a:ext>
              </a:extLst>
            </p:cNvPr>
            <p:cNvGrpSpPr/>
            <p:nvPr/>
          </p:nvGrpSpPr>
          <p:grpSpPr>
            <a:xfrm>
              <a:off x="304800" y="4803648"/>
              <a:ext cx="5340096" cy="670560"/>
              <a:chOff x="304800" y="4803648"/>
              <a:chExt cx="5340096" cy="670560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304800" y="4803648"/>
                <a:ext cx="85344" cy="670560"/>
              </a:xfrm>
              <a:prstGeom prst="rect">
                <a:avLst/>
              </a:prstGeom>
              <a:solidFill>
                <a:srgbClr val="66BB6A"/>
              </a:solidFill>
              <a:ln w="12700">
                <a:solidFill>
                  <a:srgbClr val="66BB6A"/>
                </a:solidFill>
                <a:prstDash val="solid"/>
              </a:ln>
            </p:spPr>
            <p:txBody>
              <a:bodyPr/>
              <a:lstStyle/>
              <a:p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463296" y="4803648"/>
                <a:ext cx="5181600" cy="6705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dirty="0">
                    <a:solidFill>
                      <a:srgbClr val="D0E4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📈  Strong positive correlation between study hours and productivity score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1" name="Shape 19"/>
          <p:cNvSpPr/>
          <p:nvPr/>
        </p:nvSpPr>
        <p:spPr>
          <a:xfrm>
            <a:off x="6400800" y="1097280"/>
            <a:ext cx="5486400" cy="487680"/>
          </a:xfrm>
          <a:prstGeom prst="rect">
            <a:avLst/>
          </a:prstGeom>
          <a:solidFill>
            <a:srgbClr val="0D2B6E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109728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66BB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1731264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1731264"/>
            <a:ext cx="85344" cy="6705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59296" y="1731264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📵  Implement phone-free study zones and digital detox programs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2499360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2499360"/>
            <a:ext cx="85344" cy="670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59296" y="2499360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🏆  Reward and showcase Focused students to inspire peers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267456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3267456"/>
            <a:ext cx="85344" cy="6705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59296" y="3267456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📅  Introduce structured study hour programs targeting Under-Engaged students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0" y="4035552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4035552"/>
            <a:ext cx="85344" cy="670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59296" y="4035552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🔔  Deploy real-time distraction monitoring and nudge notifications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0" y="4803648"/>
            <a:ext cx="5486400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0" y="4803648"/>
            <a:ext cx="85344" cy="6705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59296" y="4803648"/>
            <a:ext cx="5181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🎓  Provide targeted support for the 6,106 Under-Engaged students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0" y="6461760"/>
            <a:ext cx="12106636" cy="56997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0" y="6511522"/>
            <a:ext cx="121920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Productivity Dashboard | 3MTT  Capstone Project 2026</a:t>
            </a:r>
            <a:endParaRPr lang="en-US" sz="1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80F7E4C3-FA0B-69B9-FA93-B5555650DCA3}"/>
              </a:ext>
            </a:extLst>
          </p:cNvPr>
          <p:cNvSpPr/>
          <p:nvPr/>
        </p:nvSpPr>
        <p:spPr>
          <a:xfrm>
            <a:off x="390144" y="5571744"/>
            <a:ext cx="5370576" cy="670560"/>
          </a:xfrm>
          <a:prstGeom prst="rect">
            <a:avLst/>
          </a:prstGeom>
          <a:solidFill>
            <a:srgbClr val="0A1E45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pPr lvl="0">
              <a:defRPr/>
            </a:pPr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0E4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Negative correlation between total distraction and </a:t>
            </a:r>
            <a:r>
              <a:rPr lang="en-US" sz="1400" dirty="0">
                <a:solidFill>
                  <a:srgbClr val="D0E4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productivity score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0E4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9C6BE287-4425-69A2-4028-4D6BB632F62E}"/>
              </a:ext>
            </a:extLst>
          </p:cNvPr>
          <p:cNvSpPr/>
          <p:nvPr/>
        </p:nvSpPr>
        <p:spPr>
          <a:xfrm>
            <a:off x="304800" y="5571744"/>
            <a:ext cx="85344" cy="6705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D14C57F3-3F20-4469-9C51-83BFC87AA456}" vid="{1C2357A2-0EA2-4E13-AF70-D431AD9B13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426</TotalTime>
  <Words>345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Calibri</vt:lpstr>
      <vt:lpstr>Calibri Light</vt:lpstr>
      <vt:lpstr>Times New Roman</vt:lpstr>
      <vt:lpstr>Theme2</vt:lpstr>
      <vt:lpstr>ADVANCED ANALYSIS ON STUDENT ACADEMIC PERFORMANCE AND DIGITAL DISTRACTIONS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echeofusj@gmail.com</dc:creator>
  <cp:lastModifiedBy>echeofusj@gmail.com</cp:lastModifiedBy>
  <cp:revision>3</cp:revision>
  <dcterms:created xsi:type="dcterms:W3CDTF">2026-05-01T03:18:35Z</dcterms:created>
  <dcterms:modified xsi:type="dcterms:W3CDTF">2026-05-02T05:13:00Z</dcterms:modified>
</cp:coreProperties>
</file>